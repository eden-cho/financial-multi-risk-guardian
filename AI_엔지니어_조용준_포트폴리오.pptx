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0" d="100"/>
          <a:sy n="100" d="100"/>
        </p:scale>
        <p:origin x="-1512" y="-112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presProps" Target="presProp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AI / ML ENGINEER PORTFOLIO</a:t>
            </a:r>
          </a:p>
          <a:p>
            <a:pPr>
              <a:spcBef>
                <a:spcPts val="1200"/>
              </a:spcBef>
              <a:defRPr sz="3200" b="1">
                <a:solidFill>
                  <a:srgbClr val="0F172A"/>
                </a:solidFill>
              </a:defRPr>
            </a:pPr>
            <a:r>
              <a:t>정량 지표 중심의 모델링과</a:t>
            </a:r>
            <a:br/>
            <a:r>
              <a:t>실서비스 서빙 최적화를 완성하는 엔지니어</a:t>
            </a:r>
          </a:p>
          <a:p>
            <a:pPr>
              <a:spcBef>
                <a:spcPts val="2000"/>
              </a:spcBef>
              <a:defRPr sz="1600" b="1">
                <a:solidFill>
                  <a:srgbClr val="475569"/>
                </a:solidFill>
              </a:defRPr>
            </a:pPr>
            <a:r>
              <a:t>조용준 | AI &amp; ML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64748B"/>
                </a:solidFill>
              </a:defRPr>
            </a:pPr>
            <a:r>
              <a:t>• Email: dydwns2663@naver.com</a:t>
            </a:r>
            <a:br/>
            <a:r>
              <a:t>• GitHub: https://github.com/Eden-Cho</a:t>
            </a:r>
            <a:br/>
            <a:r>
              <a:t>• Blog: https://velog.io/@goom95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01 • OVERVIEW &amp; PIPELINE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소상공인 AI 광고 상세페이지 생성 서비스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📌 프로젝트 개요 및 핵심 기술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</a:defRPr>
            </a:pPr>
            <a:r>
              <a:t>• 기간 / 역할: 2026.06 - 2026.07 (5인 팀 / AI 백엔드 서빙 &amp; MLOps 담당)</a:t>
            </a:r>
            <a:br/>
            <a:r>
              <a:t>• 핵심 기술: Python, FastAPI, PyTorch, Langfuse, CLIP Score, BRISQUE, Docker, GCP</a:t>
            </a:r>
            <a:br/>
            <a:r>
              <a:t>• 주요 목표: 멀티모달 자동 품질 평가 파이프라인 구축 및 무거운 연산의 비동기 서빙 안정화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2496312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2130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Step 1. 유저 요청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Streamlit UI</a:t>
            </a:r>
            <a:br/>
            <a:r>
              <a:t>광고 파라미터 입력 및 생성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3200400"/>
            <a:ext cx="2496312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474720"/>
            <a:ext cx="2130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Step 2. 서빙 API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FastAPI 엔드포인트</a:t>
            </a:r>
            <a:br/>
            <a:r>
              <a:t>요청 검증 및 파이프라인 라우팅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200400"/>
            <a:ext cx="2496312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474720"/>
            <a:ext cx="2130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Step 3. 비동기 분리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BackgroundTasks</a:t>
            </a:r>
            <a:br/>
            <a:r>
              <a:t>CLIP / BRISQUE 평가 비동기화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3200400"/>
            <a:ext cx="2496312" cy="2926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3474720"/>
            <a:ext cx="2130552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Step 4. MLOps 관측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Langfuse Tracing</a:t>
            </a:r>
            <a:br/>
            <a:r>
              <a:t>비용/지연 실시간 대시보드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01 • DEEP DIVE &amp; RESULTS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서빙 최적화 및 정량 지표 개선 성과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834640"/>
                <a:gridCol w="3017520"/>
                <a:gridCol w="3227832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핵심 영역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Before (초기 베이스라인)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기술적 의사결정 (Action)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After (정량 개선 성과)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Cold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첫 호출 시 가중치 로딩으로</a:t>
                      </a:r>
                      <a:br/>
                      <a:r>
                        <a:t>초기 20~30초 응답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Lifespan 이벤트 기반</a:t>
                      </a:r>
                      <a:br/>
                      <a:r>
                        <a:t>인메모리 Pre-loading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초기 로딩 0초 즉시 응답</a:t>
                      </a:r>
                      <a:br/>
                      <a:r>
                        <a:t>(Cold Start 완전 해소)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서빙 지연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동기식 화질 평가 연산으로</a:t>
                      </a:r>
                      <a:br/>
                      <a:r>
                        <a:t>평균 응답 3.8초 대기 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FastAPI BackgroundTasks로</a:t>
                      </a:r>
                      <a:br/>
                      <a:r>
                        <a:t>품질 평가 비동기 분리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체감 응답 1.5초 (약 60.5% 단축)</a:t>
                      </a:r>
                      <a:br/>
                      <a:r>
                        <a:t>동시 요청(20명) 성공률 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화질 / 비용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평가 모니터링 부재 및</a:t>
                      </a:r>
                      <a:br/>
                      <a:r>
                        <a:t>화질 지표 BRISQUE 38.3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파이프라인 v2 고도화 &amp;</a:t>
                      </a:r>
                      <a:br/>
                      <a:r>
                        <a:t>Langfuse @observe 트레이싱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BRISQUE 31.4 (18.0% 화질 개선)</a:t>
                      </a:r>
                      <a:br/>
                      <a:r>
                        <a:t>1회당 $0.0082(11원) 비용 통제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12080"/>
            <a:ext cx="10725912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📊 핵심 요약: 응답 대기 시간 60.5% 단축(3.8s ➔ 1.5s) 및 무참조 화질 지표 18.0% 개선(38.3 ➔ 31.4)을 정량 검증함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02 • OVERVIEW &amp; PIPELINE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경구 알약 객체 탐지 모델 개발 및 아키텍처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188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📌 프로젝트 개요 및 문제 정의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</a:defRPr>
            </a:pPr>
            <a:r>
              <a:t>• 기간 / 역할: 2026.03 - 2026.04 (5인 팀 / CV 모델링 &amp; 데이터 파이프라인 담당)</a:t>
            </a:r>
            <a:br/>
            <a:r>
              <a:t>• 문제 상황: 73종 알약의 미세 각인, 소형 객체, 심각한 데이터 불균형으로 1-Stage 단독 모델 한계 봉착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08960"/>
            <a:ext cx="34107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30449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Stage 1. 위치 검출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1-Class Detector (YOLO26m)</a:t>
            </a:r>
            <a:br/>
            <a:r>
              <a:t>• 73개 클래스 구분 없이 객체 탐지</a:t>
            </a:r>
            <a:br/>
            <a:r>
              <a:t>• BBox 검출 및 패치 자동 Crop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108960"/>
            <a:ext cx="34107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383280"/>
            <a:ext cx="30449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Stage 2. 정밀 분류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Classifier (EfficientNet-B3)</a:t>
            </a:r>
            <a:br/>
            <a:r>
              <a:t>• 73종 세부 품목 및 미세 각인 분류</a:t>
            </a:r>
            <a:br/>
            <a:r>
              <a:t>• WeightedRandomSampler 적용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108960"/>
            <a:ext cx="3410712" cy="3017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3383280"/>
            <a:ext cx="3044952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최종 성과 도출</a:t>
            </a:r>
          </a:p>
          <a:p>
            <a:pPr>
              <a:spcBef>
                <a:spcPts val="800"/>
              </a:spcBef>
              <a:defRPr sz="1100">
                <a:solidFill>
                  <a:srgbClr val="475569"/>
                </a:solidFill>
              </a:defRPr>
            </a:pPr>
            <a:r>
              <a:t>2-Stage 통합 하이브리드</a:t>
            </a:r>
            <a:br/>
            <a:r>
              <a:t>• 1-Stage 대비 정확도 14.5% 향상</a:t>
            </a:r>
            <a:br/>
            <a:r>
              <a:t>• Kaggle 0.987 최고 스코어 달성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02 • EXPERIMENTS &amp; TUNING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정량적 모델 최적화 및 72회 그리드 서치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🧪 불균형 교정 및 백본 튜닝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도메인 맞춤 증강 (Albumentations):</a:t>
            </a:r>
            <a:br/>
            <a:r>
              <a:t>  알약의 형상 및 미세 각인을 보존하는 증강 설계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WeightedRandomSampler 도입:</a:t>
            </a:r>
            <a:br/>
            <a:r>
              <a:t>  소수 품목 가중치를 보정하여 클래스 불균형 교정</a:t>
            </a:r>
            <a:br/>
            <a:r>
              <a:t>  ➔ 1-Stage 단독 대비 분류 정확도 14.5% 향상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Faster R-CNN 백본 튜닝:</a:t>
            </a:r>
            <a:br/>
            <a:r>
              <a:t>  EfficientNet-B3 결합 및 단계적 Backbone Unfreezing</a:t>
            </a:r>
            <a:br/>
            <a:r>
              <a:t>  ➔ 최종 Validation Loss 0.16 달성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⚙️ 72회 추론 그리드 서치 (Grid Search)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탐색 파라미터 조합 (총 72회 실험):</a:t>
            </a:r>
            <a:br/>
            <a:r>
              <a:t>  - 해상도: 640 / 768</a:t>
            </a:r>
            <a:br/>
            <a:r>
              <a:t>  - Bounding Box 패딩 비율: 0.08 ~ 0.12</a:t>
            </a:r>
            <a:br/>
            <a:r>
              <a:t>  - Detector / Classifier 가중치 지수 (Beta)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정량적 성능 향상 비교:</a:t>
            </a:r>
            <a:br/>
            <a:r>
              <a:t>  - 초기 베이스라인 mAP: 0.742</a:t>
            </a:r>
            <a:br/>
            <a:r>
              <a:t>  - 최종 최적화 mAP50-95: 0.877 (약 18.2% 성능 향상)</a:t>
            </a:r>
            <a:br/>
            <a:r>
              <a:t>  - mAP50: 0.887 / Kaggle Public Score: 0.987 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PROJECT 02 • COMPARISON &amp; INSIGHT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아키텍처별 성능 비교 및 핵심 인사이트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2743200"/>
                <a:gridCol w="2496312"/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모델 아키텍처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장점 및 특징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한계점 (Bottleneck)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검증 지표 (성능 비교)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YOLO26m (1-Stage 단독)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빠른 추론 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소수 클래스 간 오분류 및</a:t>
                      </a:r>
                      <a:br/>
                      <a:r>
                        <a:t>미세 각인 인식률 저하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mAP 0.742 (초기 베이스라인)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Faster R-CNN (단독)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우수한 BBox 검출률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다중 클래스 동시 수렴 지연</a:t>
                      </a:r>
                      <a:br/>
                      <a:r>
                        <a:t>파라미터 연산 과다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mAP 0.812 (Val Loss 0.16)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2-Stage 하이브리드</a:t>
                      </a:r>
                      <a:br/>
                      <a:r>
                        <a:t>(YOLO + EfficientNet)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위치 검출과 정밀 분류 책임 분리</a:t>
                      </a:r>
                      <a:br/>
                      <a:r>
                        <a:t>불균형 가중 샘플러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475569"/>
                          </a:solidFill>
                        </a:defRPr>
                      </a:pPr>
                      <a:r>
                        <a:t>2단계 파이프라인 연산 필요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59669"/>
                          </a:solidFill>
                        </a:defRPr>
                      </a:pPr>
                      <a:r>
                        <a:t>COCO mAP 0.877 (18.2% ↑)</a:t>
                      </a:r>
                      <a:br/>
                      <a:r>
                        <a:t>Kaggle 0.987 최고점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5212080"/>
            <a:ext cx="10725912" cy="10058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30352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💡 핵심 결론: 단일 모델 한계를 극복하는 2-Stage 분리 아키텍처로 초기 베이스라인 대비 mAP 18.2% 향상 및 Kaggle 0.987을 견인함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SUMMARY &amp; VISION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엔지니어링 핵심 역량 및 입사 후 포부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10712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30449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지표 중심의 모델링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72회 하이퍼파라미터 그리드 서치</a:t>
            </a:r>
            <a:br/>
            <a:r>
              <a:t>• 베이스라인 대비 mAP 18.2% 향상</a:t>
            </a:r>
            <a:br/>
            <a:r>
              <a:t>• 불균형 교정으로 정확도 14.5%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10712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920240"/>
            <a:ext cx="30449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안정적인 서빙 최적화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FastAPI 비동기 BackgroundTasks</a:t>
            </a:r>
            <a:br/>
            <a:r>
              <a:t>• 체감 응답 지연 60.5% 단축 달성</a:t>
            </a:r>
            <a:br/>
            <a:r>
              <a:t>• Lifespan 인메모리 Cold Start 제거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10712" cy="3108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20240"/>
            <a:ext cx="304495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MLOps 관측 &amp; 비용 통제</a:t>
            </a:r>
          </a:p>
          <a:p>
            <a:pPr>
              <a:spcBef>
                <a:spcPts val="1000"/>
              </a:spcBef>
              <a:defRPr sz="1100">
                <a:solidFill>
                  <a:srgbClr val="475569"/>
                </a:solidFill>
              </a:defRPr>
            </a:pPr>
            <a:r>
              <a:t>• Langfuse @observe 실시간 트레이싱</a:t>
            </a:r>
            <a:br/>
            <a:r>
              <a:t>• 건당 $0.0082 비용 통제 체계</a:t>
            </a:r>
            <a:br/>
            <a:r>
              <a:t>• 지속 가능한 서비스 파이프라인 구축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10725912" cy="11887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🎯 입사 후 포부</a:t>
            </a:r>
          </a:p>
          <a:p>
            <a:pPr>
              <a:spcBef>
                <a:spcPts val="300"/>
              </a:spcBef>
              <a:defRPr sz="1100" b="1">
                <a:solidFill>
                  <a:srgbClr val="0F172A"/>
                </a:solidFill>
              </a:defRPr>
            </a:pPr>
            <a:r>
              <a:t>단순 모델 개발에 그치지 않고 배포 환경의 응답성과 비용 효율까지 책임지는 엔지니어로서, 실제 비즈니스 환경에서 안정적으로 동작하는 AI 솔루션을 구축하겠습니다.</a:t>
            </a:r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PMingLiU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638</ep:Words>
  <ep:PresentationFormat>On-screen Show (4:3)</ep:PresentationFormat>
  <ep:Paragraphs>51</ep:Paragraphs>
  <ep:Slides>7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ep:HeadingPairs>
  <ep:TitlesOfParts>
    <vt:vector size="8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description>generated using python-pptx</dc:description>
  <cp:lastModifiedBy>yjc</cp:lastModifiedBy>
  <dcterms:modified xsi:type="dcterms:W3CDTF">2026-08-31T08:15:09.970</dcterms:modified>
  <cp:revision>2</cp:revision>
  <cp:version/>
</cp:coreProperties>
</file>